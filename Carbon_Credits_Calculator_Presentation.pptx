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Emissions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4332"/>
              </a:solidFill>
              <a:effectLst/>
            </c:spPr>
          </c:dPt>
          <c:dPt>
            <c:idx val="1"/>
            <c:bubble3D val="0"/>
            <c:spPr>
              <a:solidFill>
                <a:srgbClr val="2D6A4F"/>
              </a:solidFill>
              <a:effectLst/>
            </c:spPr>
          </c:dPt>
          <c:dPt>
            <c:idx val="2"/>
            <c:bubble3D val="0"/>
            <c:spPr>
              <a:solidFill>
                <a:srgbClr val="52796F"/>
              </a:solidFill>
              <a:effectLst/>
            </c:spPr>
          </c:dPt>
          <c:dPt>
            <c:idx val="3"/>
            <c:bubble3D val="0"/>
            <c:spPr>
              <a:solidFill>
                <a:srgbClr val="D4A017"/>
              </a:solidFill>
              <a:effectLst/>
            </c:spPr>
          </c:dPt>
          <c:dPt>
            <c:idx val="4"/>
            <c:bubble3D val="0"/>
            <c:spPr>
              <a:solidFill>
                <a:srgbClr val="F4A261"/>
              </a:solidFill>
              <a:effectLst/>
            </c:spPr>
          </c:dPt>
          <c:dPt>
            <c:idx val="5"/>
            <c:bubble3D val="0"/>
            <c:spPr>
              <a:solidFill>
                <a:srgbClr val="B5523A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Process (57%)</c:v>
                </c:pt>
                <c:pt idx="1">
                  <c:v>Fuel (26%)</c:v>
                </c:pt>
                <c:pt idx="2">
                  <c:v>Electricity (7%)</c:v>
                </c:pt>
                <c:pt idx="3">
                  <c:v>Transport (6%)</c:v>
                </c:pt>
                <c:pt idx="4">
                  <c:v>Waste (3%)</c:v>
                </c:pt>
                <c:pt idx="5">
                  <c:v>Fugitive (&lt;1%)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5838</c:v>
                </c:pt>
                <c:pt idx="1">
                  <c:v>2651</c:v>
                </c:pt>
                <c:pt idx="2">
                  <c:v>736</c:v>
                </c:pt>
                <c:pt idx="3">
                  <c:v>625</c:v>
                </c:pt>
                <c:pt idx="4">
                  <c:v>324</c:v>
                </c:pt>
                <c:pt idx="5">
                  <c:v>27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657600" cy="3657600"/>
          </a:xfrm>
          <a:prstGeom prst="ellipse">
            <a:avLst/>
          </a:prstGeom>
          <a:solidFill>
            <a:srgbClr val="2D6A4F">
              <a:alpha val="40000"/>
            </a:srgbClr>
          </a:solidFill>
          <a:ln w="12700">
            <a:solidFill>
              <a:srgbClr val="2D6A4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731520"/>
            <a:ext cx="2194560" cy="2194560"/>
          </a:xfrm>
          <a:prstGeom prst="ellipse">
            <a:avLst/>
          </a:prstGeom>
          <a:solidFill>
            <a:srgbClr val="52796F">
              <a:alpha val="50000"/>
            </a:srgbClr>
          </a:solidFill>
          <a:ln w="12700">
            <a:solidFill>
              <a:srgbClr val="52796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0" y="4572000"/>
            <a:ext cx="1280160" cy="1280160"/>
          </a:xfrm>
          <a:prstGeom prst="ellipse">
            <a:avLst/>
          </a:prstGeom>
          <a:solidFill>
            <a:srgbClr val="D4A017">
              <a:alpha val="30000"/>
            </a:srgbClr>
          </a:solidFill>
          <a:ln w="12700">
            <a:solidFill>
              <a:srgbClr val="D4A01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  •  2025–26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Industrial Carbon Credits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i="1" dirty="0">
                <a:solidFill>
                  <a:srgbClr val="B7E4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Calculator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UNFCCC CDM-compliant web tool for emission accounting, carbon credit estimation and India CCTS 2025 compliance reporting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4937760"/>
            <a:ext cx="6766560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93776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 CERs  =  Baseline Emissions  −  Project Emissions  −  Leakage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5989320"/>
            <a:ext cx="5029200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6080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[Your Name]   |   Guide:  [Faculty Name]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[Department]   •   [Institution]   •  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of Contents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53492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91440" cy="10972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5448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5544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198424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industrial carbon accounting matters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55080" y="1417320"/>
            <a:ext cx="53492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1417320"/>
            <a:ext cx="91440" cy="10972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55448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543800" y="15544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543800" y="198424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standards &amp; Indian regulatory framework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697480"/>
            <a:ext cx="53492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697480"/>
            <a:ext cx="91440" cy="10972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83464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828800" y="28346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Prepared — The Tool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828800" y="326440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formula and 11-industry coverage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55080" y="2697480"/>
            <a:ext cx="53492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5080" y="2697480"/>
            <a:ext cx="91440" cy="10972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283464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543800" y="28346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6-Step Workflow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543800" y="326440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industry selection to results dashboard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3977640"/>
            <a:ext cx="53492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3977640"/>
            <a:ext cx="91440" cy="10972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11480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1828800" y="41148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Emissions Engine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828800" y="454456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tabs across Scope 1, 2 and 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55080" y="3977640"/>
            <a:ext cx="53492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55080" y="3977640"/>
            <a:ext cx="91440" cy="10972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411480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7543800" y="41148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— Ultratech Cement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543800" y="454456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Cement Works, Chittorgarh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5257800"/>
            <a:ext cx="53492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0080" y="5257800"/>
            <a:ext cx="91440" cy="10972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539496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1828800" y="539496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Scope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828800" y="582472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limitations and next steps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355080" y="5257800"/>
            <a:ext cx="53492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55080" y="5257800"/>
            <a:ext cx="91440" cy="10972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29400" y="539496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7543800" y="539496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543800" y="582472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Standards, datasets and reports cited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Carbon Credits Calculator  •  UNFCCC CDM Standard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430000" y="66751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•  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 Carbon Credits Calculator?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6035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sectors — cement, steel, power, refineries — contribute the largest share of global CO₂ emissions. Under India's Carbon Credit Trading Scheme (CCTS 2025), every covered facility must now report its Greenhouse-Gas Emission Intensity (GEI) and either earn or purchase carbon credits to stay compliant.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plant managers lack a single, standards-based tool that translates fuel bills, electricity meters and process data into credit-grade tCO₂e numbers.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fragment the workflow, miss the latest IPCC AR6 / India CEA factors, and cannot generate audit-ready reports.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78040" y="1417320"/>
            <a:ext cx="4434840" cy="10972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78040" y="1417320"/>
            <a:ext cx="109728" cy="10972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0" y="15087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8869680" y="15087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global CO₂ emissions come from heavy industry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78040" y="2679192"/>
            <a:ext cx="4434840" cy="10972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78040" y="2679192"/>
            <a:ext cx="109728" cy="10972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0" y="2770632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869680" y="2770632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sectors covered by the tool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78040" y="3941064"/>
            <a:ext cx="4434840" cy="10972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3941064"/>
            <a:ext cx="109728" cy="10972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4032504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8869680" y="4032504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 categories tracked across Scope 1 / 2 / 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78040" y="5202936"/>
            <a:ext cx="4434840" cy="10972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78040" y="5202936"/>
            <a:ext cx="109728" cy="10972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0" y="5294376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8869680" y="5294376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steps from sign-in to PDF report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Carbon Credits Calculator  •  UNFCCC CDM Standard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6751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•  LITERATURE REVIEW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Standards &amp; Frameworks Studied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development, the team reviewed the international and Indian frameworks governing industrial carbon accounting. The calculator embeds emission factors and rules drawn from the seven sources below.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5440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267712"/>
            <a:ext cx="868680" cy="2743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677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INT'L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83080" y="222199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UNFCCC CDM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83080" y="256032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Nations Clean Development Mechanism — the canonical 'BE − PE − Leakage' formula adopted by the tool.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55080" y="2103120"/>
            <a:ext cx="5440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7960" y="2267712"/>
            <a:ext cx="868680" cy="2743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22677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498080" y="222199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IPCC AR6 &amp; 2006 Guidelines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98080" y="256032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for default calorific values, emission factors and GWP100 (e.g. CH₄ = 27).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218688"/>
            <a:ext cx="5440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383280"/>
            <a:ext cx="868680" cy="2743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3832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783080" y="33375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CEA UCR CoU 2025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783080" y="367588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grid emission factor (0.736 kgCO₂/kWh) used for Scope 2 electricity.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55080" y="3218688"/>
            <a:ext cx="5440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37960" y="3383280"/>
            <a:ext cx="868680" cy="2743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33832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98080" y="33375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Verra VCS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98080" y="367588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Carbon Standard — voluntary-market certification compatibility.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4334256"/>
            <a:ext cx="5440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" y="4498848"/>
            <a:ext cx="868680" cy="2743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4988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783080" y="445312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GCCA / World Steel Association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783080" y="4791456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benchmarks: e.g. OPC Portland cement = 0.92 tCO₂/t (GCCA COP29 2024).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55080" y="4334256"/>
            <a:ext cx="5440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37960" y="4498848"/>
            <a:ext cx="868680" cy="2743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44988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498080" y="445312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CCTS Notification 2025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498080" y="4791456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GEI upper-ceiling values for compliance under the Carbon Credit Trading Scheme.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5449824"/>
            <a:ext cx="5440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" y="5614416"/>
            <a:ext cx="868680" cy="2743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5614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783080" y="5568696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MoEFCC GEI Target Rules 2025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783080" y="5907024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Sub-sector baseline intensities (FY 2023-24) and pro-rata FY 2026-27 targets.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355080" y="5449824"/>
            <a:ext cx="5440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37960" y="5614416"/>
            <a:ext cx="868680" cy="2743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56144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498080" y="5568696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 Protocol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498080" y="5907024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1 / 2 / 3 classification used to organise the eight emissions tabs.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Carbon Credits Calculator  •  UNFCCC CDM Standard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430000" y="66751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•  MODEL PREPARED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Tool at a Glance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72800" cy="1005840"/>
          </a:xfrm>
          <a:prstGeom prst="rect">
            <a:avLst/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109728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544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FORMULA  (UNFCCC CDM)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783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 CERs </a:t>
            </a:r>
            <a:pPr algn="ctr" indent="0" marL="0">
              <a:buNone/>
            </a:pPr>
            <a:r>
              <a:rPr lang="en-US" sz="3000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algn="ctr" indent="0" marL="0">
              <a:buNone/>
            </a:pPr>
            <a:r>
              <a:rPr lang="en-US" sz="3000" b="1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</a:t>
            </a:r>
            <a:pPr algn="ctr" indent="0" marL="0">
              <a:buNone/>
            </a:pPr>
            <a:r>
              <a:rPr lang="en-US" sz="3000" b="1" baseline="-4000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algn="ctr" indent="0" marL="0">
              <a:buNone/>
            </a:pPr>
            <a:r>
              <a:rPr lang="en-US" sz="3000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− </a:t>
            </a:r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</a:t>
            </a:r>
            <a:pPr algn="ctr" indent="0" marL="0">
              <a:buNone/>
            </a:pPr>
            <a:r>
              <a:rPr lang="en-US" sz="3000" b="1" baseline="-40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algn="ctr" indent="0" marL="0">
              <a:buNone/>
            </a:pPr>
            <a:r>
              <a:rPr lang="en-US" sz="3000" dirty="0">
                <a:solidFill>
                  <a:srgbClr val="D4A0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− </a:t>
            </a:r>
            <a:pPr algn="ctr" indent="0" marL="0">
              <a:buNone/>
            </a:pPr>
            <a:r>
              <a:rPr lang="en-US" sz="30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</a:t>
            </a:r>
            <a:pPr algn="ctr" indent="0" marL="0">
              <a:buNone/>
            </a:pPr>
            <a:r>
              <a:rPr lang="en-US" sz="3000" b="1" baseline="-40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40080" y="2697480"/>
            <a:ext cx="352044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697480"/>
            <a:ext cx="3520440" cy="914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9260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32004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Web-based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4400" y="3776472"/>
            <a:ext cx="731520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88620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Lovable; runs in any browser (Chrome / Edge / Firefox). Google Sign-In persists analyses across devices.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66260" y="2697480"/>
            <a:ext cx="352044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66260" y="2697480"/>
            <a:ext cx="3520440" cy="914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0580" y="29260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40580" y="32004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Coverage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640580" y="3776472"/>
            <a:ext cx="731520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0580" y="388620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industries: Cement, Steel, HCl, Soda Ash, Fertilizer, Paper &amp; Pulp, Refinery, Textiles, Power, Aluminum, Other.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92440" y="2697480"/>
            <a:ext cx="352044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92440" y="2697480"/>
            <a:ext cx="3520440" cy="914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66760" y="29260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66760" y="32004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Outputs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8366760" y="3776472"/>
            <a:ext cx="731520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66760" y="388620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dashboard, waterfall + pie charts, plus two PDF reports — Concise Summary and Detailed GEI Report.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5166360"/>
            <a:ext cx="10972800" cy="4572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1663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TOOL  ›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https://eco-carbon-path.lovable.app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Carbon Credits Calculator  •  UNFCCC CDM Standard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6751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•  METHODOLOGY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Six-Step Guided Workflow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91540" y="1691640"/>
            <a:ext cx="1005840" cy="1005840"/>
          </a:xfrm>
          <a:prstGeom prst="ellipse">
            <a:avLst/>
          </a:prstGeom>
          <a:solidFill>
            <a:srgbClr val="1B4332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1540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from 11 sectors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58568" y="2194560"/>
            <a:ext cx="146304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5400000">
            <a:off x="2368296" y="2130552"/>
            <a:ext cx="128016" cy="128016"/>
          </a:xfrm>
          <a:prstGeom prst="rtTriangl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66060" y="1691640"/>
            <a:ext cx="1005840" cy="1005840"/>
          </a:xfrm>
          <a:prstGeom prst="ellipse">
            <a:avLst/>
          </a:prstGeom>
          <a:solidFill>
            <a:srgbClr val="1B4332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66060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2423160" y="27889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23160" y="31546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Plant, year, region, grid EF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33088" y="2194560"/>
            <a:ext cx="146304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5400000">
            <a:off x="4242816" y="2130552"/>
            <a:ext cx="128016" cy="128016"/>
          </a:xfrm>
          <a:prstGeom prst="rtTriangl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40580" y="1691640"/>
            <a:ext cx="1005840" cy="1005840"/>
          </a:xfrm>
          <a:prstGeom prst="ellipse">
            <a:avLst/>
          </a:prstGeom>
          <a:solidFill>
            <a:srgbClr val="1B4332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0580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4297680" y="27889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297680" y="31546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/ historical / regulatory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07608" y="2194560"/>
            <a:ext cx="146304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5400000">
            <a:off x="6117336" y="2130552"/>
            <a:ext cx="128016" cy="128016"/>
          </a:xfrm>
          <a:prstGeom prst="rtTriangl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15100" y="1691640"/>
            <a:ext cx="1005840" cy="1005840"/>
          </a:xfrm>
          <a:prstGeom prst="ellipse">
            <a:avLst/>
          </a:prstGeom>
          <a:solidFill>
            <a:srgbClr val="1B4332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5100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6172200" y="27889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72200" y="31546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tabs: fuel → Govt GEI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882128" y="2194560"/>
            <a:ext cx="146304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5400000">
            <a:off x="7991856" y="2130552"/>
            <a:ext cx="128016" cy="128016"/>
          </a:xfrm>
          <a:prstGeom prst="rtTriangl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89620" y="1691640"/>
            <a:ext cx="1005840" cy="1005840"/>
          </a:xfrm>
          <a:prstGeom prst="ellipse">
            <a:avLst/>
          </a:prstGeom>
          <a:solidFill>
            <a:srgbClr val="1B4332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89620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800" dirty="0"/>
          </a:p>
        </p:txBody>
      </p:sp>
      <p:sp>
        <p:nvSpPr>
          <p:cNvPr id="31" name="Text 29"/>
          <p:cNvSpPr/>
          <p:nvPr/>
        </p:nvSpPr>
        <p:spPr>
          <a:xfrm>
            <a:off x="8046720" y="27889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046720" y="31546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5% or certified value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756648" y="2194560"/>
            <a:ext cx="146304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5400000">
            <a:off x="9866376" y="2130552"/>
            <a:ext cx="128016" cy="128016"/>
          </a:xfrm>
          <a:prstGeom prst="rtTriangl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264140" y="1691640"/>
            <a:ext cx="1005840" cy="1005840"/>
          </a:xfrm>
          <a:prstGeom prst="ellipse">
            <a:avLst/>
          </a:prstGeom>
          <a:solidFill>
            <a:srgbClr val="1B4332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264140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800" dirty="0"/>
          </a:p>
        </p:txBody>
      </p:sp>
      <p:sp>
        <p:nvSpPr>
          <p:cNvPr id="37" name="Text 35"/>
          <p:cNvSpPr/>
          <p:nvPr/>
        </p:nvSpPr>
        <p:spPr>
          <a:xfrm>
            <a:off x="9921240" y="27889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921240" y="31546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PDF report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" y="4160520"/>
            <a:ext cx="109728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" y="4160520"/>
            <a:ext cx="91440" cy="21031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432511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STEP CONTRIBUTES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14400" y="4663440"/>
            <a:ext cx="10515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1–2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the facility and load the right region/sector emission factors automatically.  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the 'business-as-usual' reference (BE) — without this, no credit can be claimed.  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actual emissions (PE) across all three GHG-Protocol scopes, plus reductions and Govt-GEI compliance.  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5–6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 leakage and present the final Net CERs along with downloadable, audit-ready PDF reports.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Carbon Credits Calculator  •  UNFCCC CDM Standard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430000" y="66751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•  EMISSIONS ENGINE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Tabs Across Scope 1, 2 and 3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4612" y="1417320"/>
            <a:ext cx="370332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4612" y="1417320"/>
            <a:ext cx="3703320" cy="8686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3212" y="15087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53212" y="170992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53212" y="20574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plant burns or releases on-site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3212" y="2542032"/>
            <a:ext cx="146304" cy="14630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1812" y="246888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Combustion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81812" y="276148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Coal, petcoke, NG, diesel — IPCC CV &amp; EF auto-filled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3212" y="3502152"/>
            <a:ext cx="146304" cy="14630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812" y="342900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Emissions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1812" y="372160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limestone calcination CaCO₃ → CaO + CO₂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53212" y="4462272"/>
            <a:ext cx="146304" cy="14630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" y="438912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Fugitive Gases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81812" y="468172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CH₄ leaks, HFCs, purge gas — GWP from IPCC AR6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29100" y="1417320"/>
            <a:ext cx="370332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29100" y="1417320"/>
            <a:ext cx="3703320" cy="8686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57700" y="15087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57700" y="170992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457700" y="20574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Purchased grid electricity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57700" y="2542032"/>
            <a:ext cx="146304" cy="14630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246888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86300" y="276148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kWh × Grid EF (0.736 kgCO₂/kWh — India CEA 2025)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133588" y="1417320"/>
            <a:ext cx="370332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133588" y="1417320"/>
            <a:ext cx="3703320" cy="868680"/>
          </a:xfrm>
          <a:prstGeom prst="rect">
            <a:avLst/>
          </a:prstGeom>
          <a:solidFill>
            <a:srgbClr val="52796F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62188" y="15087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62188" y="170992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Indirect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362188" y="20574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Up- and down-stream value chain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362188" y="2542032"/>
            <a:ext cx="146304" cy="14630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90788" y="246888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590788" y="276148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 = 0.062, Ship = 0.011 kgCO₂/t-km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362188" y="3502152"/>
            <a:ext cx="146304" cy="14630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90788" y="342900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590788" y="372160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Landfill / treatment / incineration / recycling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40080" y="5760720"/>
            <a:ext cx="10972800" cy="777240"/>
          </a:xfrm>
          <a:prstGeom prst="rect">
            <a:avLst/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57607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Reductions tab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(renewables, CCUS, biomass, energy-efficiency, waste-heat recovery)   </a:t>
            </a:r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Govt GEI tab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(India CCTS 2025 compliance check against MoEFCC / BEE limits)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Carbon Credits Calculator  •  UNFCCC CDM Standard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430000" y="66751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•  CASE STUDY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Ultratech Cement — Aditya Cement Works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Plant: ADITYA CEMENT WORKS, Chittorgarh   |   Sub-Sector: Cement — Clinkerization   |   FY 2025-26   |   Production: 10,000 t/yr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Emissions by Source (tCO₂e)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2103120"/>
          <a:ext cx="594360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583680" y="1783080"/>
            <a:ext cx="1200150" cy="1188720"/>
          </a:xfrm>
          <a:prstGeom prst="rect">
            <a:avLst/>
          </a:prstGeom>
          <a:solidFill>
            <a:srgbClr val="52796F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0" y="1874520"/>
            <a:ext cx="12001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9,200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583680" y="2468880"/>
            <a:ext cx="12001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(BE)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583680" y="2697480"/>
            <a:ext cx="1200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8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tCO₂e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875270" y="1783080"/>
            <a:ext cx="1200150" cy="11887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75270" y="1874520"/>
            <a:ext cx="12001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9,701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7875270" y="2468880"/>
            <a:ext cx="12001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(PE)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875270" y="2697480"/>
            <a:ext cx="1200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8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tCO₂e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9166860" y="1783080"/>
            <a:ext cx="1200150" cy="1188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66860" y="1874520"/>
            <a:ext cx="12001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9166860" y="2468880"/>
            <a:ext cx="12001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CERs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166860" y="2697480"/>
            <a:ext cx="1200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8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tCO₂e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0458450" y="1783080"/>
            <a:ext cx="1200150" cy="1188720"/>
          </a:xfrm>
          <a:prstGeom prst="rect">
            <a:avLst/>
          </a:prstGeom>
          <a:solidFill>
            <a:srgbClr val="B5523A"/>
          </a:solidFill>
          <a:ln w="12700">
            <a:solidFill>
              <a:srgbClr val="B5523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458450" y="1874520"/>
            <a:ext cx="12001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1,671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10458450" y="2468880"/>
            <a:ext cx="12001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to buy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458450" y="2697480"/>
            <a:ext cx="1200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8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tCO₂e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583680" y="3154680"/>
            <a:ext cx="507492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B5523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583680" y="3154680"/>
            <a:ext cx="91440" cy="1691640"/>
          </a:xfrm>
          <a:prstGeom prst="rect">
            <a:avLst/>
          </a:prstGeom>
          <a:solidFill>
            <a:srgbClr val="B5523A"/>
          </a:solidFill>
          <a:ln w="12700">
            <a:solidFill>
              <a:srgbClr val="B5523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12280" y="324612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5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GEI COMPLIANCE  •  INDIA CCTS 2025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812280" y="35204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5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NON-COMPLIANT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812280" y="39319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GEI: 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 tCO₂e/t   </a:t>
            </a:r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Limit: 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0.803   </a:t>
            </a:r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</a:t>
            </a:r>
            <a:pPr indent="0" marL="0">
              <a:buNone/>
            </a:pPr>
            <a:r>
              <a:rPr lang="en-US" sz="1200" b="1" dirty="0">
                <a:solidFill>
                  <a:srgbClr val="B5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 tCO₂e/t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812280" y="429768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2A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Credits to purchase = (0.97 − 0.803) × 10,000 = 1,671 tCO₂e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583680" y="4983480"/>
            <a:ext cx="5074920" cy="1371600"/>
          </a:xfrm>
          <a:prstGeom prst="rect">
            <a:avLst/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812280" y="507492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812280" y="534924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Calcination alone drives 57% of total emissions, confirming the IPCC observation that process CO₂ — not fuel — is the dominant lever in cement decarbonisation. Reducing the clinker factor would have the largest single impact on this plant's GEI score.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5720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Carbon Credits Calculator  •  UNFCCC CDM Standard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430000" y="66751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•  CONCLUSIONS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Findings, Limitations &amp; Next Steps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6118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600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2194560"/>
            <a:ext cx="548640" cy="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Standards-grade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faithfully implements the UNFCCC CDM formula with IPCC AR6 / India CEA 2025 default factors — no spreadsheet reinvention needed.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16552" y="1417320"/>
            <a:ext cx="36118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90872" y="1600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690872" y="2194560"/>
            <a:ext cx="548640" cy="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0872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Compliance-ready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90872" y="26974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Auto-checks emissions against MoEFCC GEI baselines and BEE CCTS upper-ceilings, flagging credits to buy or earn in real time.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93024" y="1417320"/>
            <a:ext cx="36118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67344" y="1600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8467344" y="2194560"/>
            <a:ext cx="548640" cy="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67344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Decision-useful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67344" y="26974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and pie visualisations point straight to the dominant emission lever (e.g. calcination = 57% in cement).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703320"/>
            <a:ext cx="54406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703320"/>
            <a:ext cx="5440680" cy="91440"/>
          </a:xfrm>
          <a:prstGeom prst="rect">
            <a:avLst/>
          </a:prstGeom>
          <a:solidFill>
            <a:srgbClr val="B5523A"/>
          </a:solidFill>
          <a:ln w="12700">
            <a:solidFill>
              <a:srgbClr val="B552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931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5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425196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emission factors are not a substitute for facility-specific lab-tested values during formal audits.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uses a flat 5% industry default unless a certified value is supplied.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for planning; formal CCTS submission must still be cross-verified on the BEE portal.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3640" y="3703320"/>
            <a:ext cx="534924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3703320"/>
            <a:ext cx="5349240" cy="914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3931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425196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API hook into BEE portal for one-click compliance filing.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Multi-plant rollup with year-on-year trend dashboards.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Marginal-abatement cost curve so users see the cheapest CO₂ reduction first.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Verra VCS / Gold Standard report templates for voluntary-market projects.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Carbon Credits Calculator  •  UNFCCC CDM Standard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6751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•  REFERENCES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Standards, Datasets &amp; Reports Cited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17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0" y="1417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/ SOURCE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31920" y="14173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10972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83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1783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31920" y="17830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 IPCC Guidelines for National Greenhouse Gas Inventories. Vols. 2 (Energy) &amp; 3 (Industrial Processes &amp; Product Use).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21945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2194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31920" y="21945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Sixth Assessment Report (AR6), Working Group I — Global Warming Potential values used in the Fugitive-Gases tab.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606040"/>
            <a:ext cx="10972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6060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0" y="2606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31920" y="26060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Energy Agency — World energy balances and sectoral emission factors.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2960" y="30175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28800" y="3017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31920" y="30175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Electricity Authority of India — User Compliance Report (UCR) CoU 2025: India National Average Grid EF = 0.736 kgCO₂/kWh.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3429000"/>
            <a:ext cx="10972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4290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828800" y="3429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MoEFCC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931920" y="34290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GEI Target Rules 2025 — Sub-sector baseline emission intensities (FY 2023-24) and pro-rata FY 2026-27 targets.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22960" y="38404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828800" y="3840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931920" y="38404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of Energy Efficiency — Carbon Credit Trading Scheme (CCTS) Notification 2025: sectoral GEI upper ceilings.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0080" y="4251960"/>
            <a:ext cx="10972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42519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828800" y="4251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931920" y="42519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Cement &amp; Concrete Association, COP29 benchmark: OPC Portland = 0.92 tCO₂/t cement.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22960" y="46634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828800" y="4663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931920" y="46634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Steel Association — sectoral CO₂ intensity benchmarks for steel production routes.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0080" y="5074920"/>
            <a:ext cx="10972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50749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828800" y="5074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WRI/WBCSD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931920" y="50749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Greenhouse Gas Protocol — Corporate Accounting &amp; Reporting Standard (Scope 1 / 2 / 3 framework).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22960" y="54864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828800" y="5486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UNFCCC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931920" y="54864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Development Mechanism (CDM) Methodologies — source of the Net CERs = BE − PE − LE formula.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40080" y="6309360"/>
            <a:ext cx="10972800" cy="2926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" y="630936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QUESTIONS?  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https://eco-carbon-path.lovable.app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Carbon Credits Calculator  •  UNFCCC CDM Standard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430000" y="66751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Industrial Carbon Credits Calculator</dc:title>
  <dc:subject>PptxGenJS Presentation</dc:subject>
  <dc:creator>Project Team</dc:creator>
  <cp:lastModifiedBy>Project Team</cp:lastModifiedBy>
  <cp:revision>1</cp:revision>
  <dcterms:created xsi:type="dcterms:W3CDTF">2026-05-03T17:23:46Z</dcterms:created>
  <dcterms:modified xsi:type="dcterms:W3CDTF">2026-05-03T17:23:46Z</dcterms:modified>
</cp:coreProperties>
</file>